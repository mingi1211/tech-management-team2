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학기 부담을 미리 보여주는 웹 서비스. 전공 부담 진단 + 재미 요소를 동시에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도구는 요일·시간 축만 본다. 우리는 학기 16주 축을 본다. 축이 다르다는 게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진단에서 끝나지 않고 행동 가능한 제안까지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일정을 수집하지 않는 대신, 상세보기에서 주차별 브리핑을 제공한다.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짧은 루프 GIF. 팔을 아래로 내리는 동작으로 부담을 내리라는 뜻을 전달한다. 실제 인물/영상/음원은 쓰지 않고 자체 캐릭터로 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before/after를 한 화면에서 비교. 캐릭터 표정과 막대 모양이 동시에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학교 마스코트 우니는 2차 가공 승인이 필요하므로, 자체 캐릭터를 기본으로 하고 승인 시 선택 스킨으로 추가한다.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가중치 합산은 백엔드에서만. 사용자에게는 단계와 제안만 노출한다.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재미 레이어가 데이터 수집 루프와 직결된다는 것이 발표의 핵심 논리.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0이 이 주제를 방어한다. 다음 회의 전 액션은 과목 목록 작성.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502920"/>
            <a:ext cx="3840480" cy="29535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173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학기예보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23042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얼마나 빡센지,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수강신청 전에 미리 본다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" y="3310128"/>
            <a:ext cx="2423160" cy="420624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" y="33467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프로젝트 주제안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수강신청은 요일과 시간만 본다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83080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03704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24328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04495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465576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9" name="Shape 7"/>
          <p:cNvSpPr/>
          <p:nvPr/>
        </p:nvSpPr>
        <p:spPr>
          <a:xfrm>
            <a:off x="1399032" y="1783080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0" name="Shape 8"/>
          <p:cNvSpPr/>
          <p:nvPr/>
        </p:nvSpPr>
        <p:spPr>
          <a:xfrm>
            <a:off x="1399032" y="2203704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1" name="Shape 9"/>
          <p:cNvSpPr/>
          <p:nvPr/>
        </p:nvSpPr>
        <p:spPr>
          <a:xfrm>
            <a:off x="1399032" y="2624328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99032" y="304495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399032" y="3465576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0824" y="1783080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020824" y="2203704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0824" y="2624328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2020824" y="304495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18" name="Shape 16"/>
          <p:cNvSpPr/>
          <p:nvPr/>
        </p:nvSpPr>
        <p:spPr>
          <a:xfrm>
            <a:off x="2020824" y="3465576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19" name="Shape 17"/>
          <p:cNvSpPr/>
          <p:nvPr/>
        </p:nvSpPr>
        <p:spPr>
          <a:xfrm>
            <a:off x="2642616" y="1783080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20" name="Shape 18"/>
          <p:cNvSpPr/>
          <p:nvPr/>
        </p:nvSpPr>
        <p:spPr>
          <a:xfrm>
            <a:off x="2642616" y="2203704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1" name="Shape 19"/>
          <p:cNvSpPr/>
          <p:nvPr/>
        </p:nvSpPr>
        <p:spPr>
          <a:xfrm>
            <a:off x="2642616" y="2624328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2" name="Shape 20"/>
          <p:cNvSpPr/>
          <p:nvPr/>
        </p:nvSpPr>
        <p:spPr>
          <a:xfrm>
            <a:off x="2642616" y="304495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2616" y="3465576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4" name="Shape 22"/>
          <p:cNvSpPr/>
          <p:nvPr/>
        </p:nvSpPr>
        <p:spPr>
          <a:xfrm>
            <a:off x="3264408" y="1783080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264408" y="2203704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64408" y="2624328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C9D0E8"/>
          </a:solidFill>
          <a:ln/>
        </p:spPr>
      </p:sp>
      <p:sp>
        <p:nvSpPr>
          <p:cNvPr id="27" name="Shape 25"/>
          <p:cNvSpPr/>
          <p:nvPr/>
        </p:nvSpPr>
        <p:spPr>
          <a:xfrm>
            <a:off x="3264408" y="3044952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8" name="Shape 26"/>
          <p:cNvSpPr/>
          <p:nvPr/>
        </p:nvSpPr>
        <p:spPr>
          <a:xfrm>
            <a:off x="3264408" y="3465576"/>
            <a:ext cx="530352" cy="329184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 · 시간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시간표 마법사가 보는 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3480" y="13716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57800" y="3419856"/>
            <a:ext cx="150876" cy="329184"/>
          </a:xfrm>
          <a:prstGeom prst="roundRect">
            <a:avLst>
              <a:gd name="adj" fmla="val 18182"/>
            </a:avLst>
          </a:prstGeom>
          <a:solidFill>
            <a:srgbClr val="4ECDC4"/>
          </a:solidFill>
          <a:ln/>
        </p:spPr>
      </p:sp>
      <p:sp>
        <p:nvSpPr>
          <p:cNvPr id="33" name="Shape 31"/>
          <p:cNvSpPr/>
          <p:nvPr/>
        </p:nvSpPr>
        <p:spPr>
          <a:xfrm>
            <a:off x="5463540" y="3324758"/>
            <a:ext cx="150876" cy="424282"/>
          </a:xfrm>
          <a:prstGeom prst="roundRect">
            <a:avLst>
              <a:gd name="adj" fmla="val 18182"/>
            </a:avLst>
          </a:prstGeom>
          <a:solidFill>
            <a:srgbClr val="4ECDC4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0" y="3229661"/>
            <a:ext cx="150876" cy="519379"/>
          </a:xfrm>
          <a:prstGeom prst="roundRect">
            <a:avLst>
              <a:gd name="adj" fmla="val 18182"/>
            </a:avLst>
          </a:prstGeom>
          <a:solidFill>
            <a:srgbClr val="8FD96B"/>
          </a:solidFill>
          <a:ln/>
        </p:spPr>
      </p:sp>
      <p:sp>
        <p:nvSpPr>
          <p:cNvPr id="35" name="Shape 33"/>
          <p:cNvSpPr/>
          <p:nvPr/>
        </p:nvSpPr>
        <p:spPr>
          <a:xfrm>
            <a:off x="5875020" y="3087014"/>
            <a:ext cx="150876" cy="662026"/>
          </a:xfrm>
          <a:prstGeom prst="roundRect">
            <a:avLst>
              <a:gd name="adj" fmla="val 18182"/>
            </a:avLst>
          </a:prstGeom>
          <a:solidFill>
            <a:srgbClr val="8FD96B"/>
          </a:solidFill>
          <a:ln/>
        </p:spPr>
      </p:sp>
      <p:sp>
        <p:nvSpPr>
          <p:cNvPr id="36" name="Shape 34"/>
          <p:cNvSpPr/>
          <p:nvPr/>
        </p:nvSpPr>
        <p:spPr>
          <a:xfrm>
            <a:off x="6080760" y="3134563"/>
            <a:ext cx="150876" cy="614477"/>
          </a:xfrm>
          <a:prstGeom prst="roundRect">
            <a:avLst>
              <a:gd name="adj" fmla="val 18182"/>
            </a:avLst>
          </a:prstGeom>
          <a:solidFill>
            <a:srgbClr val="8FD96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86500" y="2706624"/>
            <a:ext cx="150876" cy="1042416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38" name="Shape 36"/>
          <p:cNvSpPr/>
          <p:nvPr/>
        </p:nvSpPr>
        <p:spPr>
          <a:xfrm>
            <a:off x="6492240" y="2231136"/>
            <a:ext cx="150876" cy="1517904"/>
          </a:xfrm>
          <a:prstGeom prst="roundRect">
            <a:avLst>
              <a:gd name="adj" fmla="val 18182"/>
            </a:avLst>
          </a:prstGeom>
          <a:solidFill>
            <a:srgbClr val="FF9F45"/>
          </a:solidFill>
          <a:ln/>
        </p:spPr>
      </p:sp>
      <p:sp>
        <p:nvSpPr>
          <p:cNvPr id="39" name="Shape 37"/>
          <p:cNvSpPr/>
          <p:nvPr/>
        </p:nvSpPr>
        <p:spPr>
          <a:xfrm>
            <a:off x="6697980" y="2849270"/>
            <a:ext cx="150876" cy="899770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40" name="Shape 38"/>
          <p:cNvSpPr/>
          <p:nvPr/>
        </p:nvSpPr>
        <p:spPr>
          <a:xfrm>
            <a:off x="6903720" y="2516429"/>
            <a:ext cx="150876" cy="1232611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41" name="Shape 39"/>
          <p:cNvSpPr/>
          <p:nvPr/>
        </p:nvSpPr>
        <p:spPr>
          <a:xfrm>
            <a:off x="7109460" y="1755648"/>
            <a:ext cx="150876" cy="1993392"/>
          </a:xfrm>
          <a:prstGeom prst="roundRect">
            <a:avLst>
              <a:gd name="adj" fmla="val 18182"/>
            </a:avLst>
          </a:prstGeom>
          <a:solidFill>
            <a:srgbClr val="FF5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0" y="2088490"/>
            <a:ext cx="150876" cy="1660550"/>
          </a:xfrm>
          <a:prstGeom prst="roundRect">
            <a:avLst>
              <a:gd name="adj" fmla="val 18182"/>
            </a:avLst>
          </a:prstGeom>
          <a:solidFill>
            <a:srgbClr val="FF9F45"/>
          </a:solidFill>
          <a:ln/>
        </p:spPr>
      </p:sp>
      <p:sp>
        <p:nvSpPr>
          <p:cNvPr id="43" name="Shape 41"/>
          <p:cNvSpPr/>
          <p:nvPr/>
        </p:nvSpPr>
        <p:spPr>
          <a:xfrm>
            <a:off x="7520940" y="2611526"/>
            <a:ext cx="150876" cy="1137514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44" name="Shape 42"/>
          <p:cNvSpPr/>
          <p:nvPr/>
        </p:nvSpPr>
        <p:spPr>
          <a:xfrm>
            <a:off x="7726680" y="2468880"/>
            <a:ext cx="150876" cy="1280160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45" name="Shape 43"/>
          <p:cNvSpPr/>
          <p:nvPr/>
        </p:nvSpPr>
        <p:spPr>
          <a:xfrm>
            <a:off x="7932420" y="1898294"/>
            <a:ext cx="150876" cy="1850746"/>
          </a:xfrm>
          <a:prstGeom prst="roundRect">
            <a:avLst>
              <a:gd name="adj" fmla="val 18182"/>
            </a:avLst>
          </a:prstGeom>
          <a:solidFill>
            <a:srgbClr val="FF5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8138160" y="1803197"/>
            <a:ext cx="150876" cy="1945843"/>
          </a:xfrm>
          <a:prstGeom prst="roundRect">
            <a:avLst>
              <a:gd name="adj" fmla="val 18182"/>
            </a:avLst>
          </a:prstGeom>
          <a:solidFill>
            <a:srgbClr val="FF5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8343900" y="2754173"/>
            <a:ext cx="150876" cy="994867"/>
          </a:xfrm>
          <a:prstGeom prst="roundRect">
            <a:avLst>
              <a:gd name="adj" fmla="val 18182"/>
            </a:avLst>
          </a:prstGeom>
          <a:solidFill>
            <a:srgbClr val="FFD9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25780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16주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학기를 망가뜨리는 건 10주차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1700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5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안 보는 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프로토타입 — 시간표를 담으면</a:t>
            </a:r>
            <a:endParaRPr lang="en-US" sz="3200" dirty="0"/>
          </a:p>
        </p:txBody>
      </p:sp>
      <p:pic>
        <p:nvPicPr>
          <p:cNvPr id="3" name="Image 0" descr="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33856"/>
            <a:ext cx="1810512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71800" y="1325880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2971800" y="13441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410712" y="1307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캐릭터가 먼저 반응한다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410712" y="16276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읽기 전에 표정으로 안다. 5단계 반응.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971800" y="2331720"/>
            <a:ext cx="310896" cy="310896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71800" y="2350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10712" y="2313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부담 막대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10712" y="26334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16주 중 언제 몰리는지 한눈에. 10주차가 빨갛다.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971800" y="3337560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71800" y="33558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3319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과목을 콕 집어준다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10712" y="363931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과목 하나만 빼면 두 단계 내려가요”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주차를 누르면 무엇이 겹치는지 보인다</a:t>
            </a:r>
            <a:endParaRPr lang="en-US" sz="3200" dirty="0"/>
          </a:p>
        </p:txBody>
      </p:sp>
      <p:pic>
        <p:nvPicPr>
          <p:cNvPr id="3" name="Image 0" descr="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133856"/>
            <a:ext cx="1618488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356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87552" y="13990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10주차 · 과제3 발표1 시험2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17190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겹치는지 과목 단위로 전부 펼친다.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5328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87552" y="24963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개인정보를 받지 않는다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28163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로그인·회원가입·캘린더 연동 없음.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310896" cy="310896"/>
          </a:xfrm>
          <a:prstGeom prst="ellipse">
            <a:avLst/>
          </a:prstGeom>
          <a:solidFill>
            <a:srgbClr val="6A73A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36301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3593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모른다고 말한다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39136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과목마다 검증 A / 자료 B / 부족 C 표시.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재미가 곧 기능이다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캐릭터가 팔을 내리며 “이거 빼” — 그 동작이 그대로 추천 기능</a:t>
            </a:r>
            <a:endParaRPr lang="en-US" sz="1400" dirty="0"/>
          </a:p>
        </p:txBody>
      </p:sp>
      <p:pic>
        <p:nvPicPr>
          <p:cNvPr id="4" name="Image 0" descr="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8010144" cy="1545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3611880"/>
            <a:ext cx="4754880" cy="658368"/>
          </a:xfrm>
          <a:prstGeom prst="roundRect">
            <a:avLst>
              <a:gd name="adj" fmla="val 50000"/>
            </a:avLst>
          </a:prstGeom>
          <a:solidFill>
            <a:srgbClr val="1A214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194560" y="37124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“그것만은 안 돼…”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하나를 빼면 이렇게 바뀐다</a:t>
            </a:r>
            <a:endParaRPr lang="en-US" sz="3200" dirty="0"/>
          </a:p>
        </p:txBody>
      </p:sp>
      <p:pic>
        <p:nvPicPr>
          <p:cNvPr id="3" name="Image 0" descr="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8229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 5단계 = 캐릭터 5단계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대신 표정으로 말한다</a:t>
            </a:r>
            <a:endParaRPr lang="en-US" sz="1400" dirty="0"/>
          </a:p>
        </p:txBody>
      </p:sp>
      <p:pic>
        <p:nvPicPr>
          <p:cNvPr id="4" name="Image 0" descr="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8229600" cy="1728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03320"/>
            <a:ext cx="8229600" cy="658368"/>
          </a:xfrm>
          <a:prstGeom prst="roundRect">
            <a:avLst>
              <a:gd name="adj" fmla="val 22222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38130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교명 광운(光云)의 ‘운’에서 착안한 구름 캐릭터 — 직접 제작해 저작권 문제 없음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점수는 사용자에게 보여주지 않는다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과목을 찾아내는 내부 임계치로만 쓴다</a:t>
            </a:r>
            <a:endParaRPr lang="en-US" sz="1400" dirty="0"/>
          </a:p>
        </p:txBody>
      </p:sp>
      <p:pic>
        <p:nvPicPr>
          <p:cNvPr id="4" name="Image 0" descr="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8229600" cy="22494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“82점”은 와닿지 않는다. “이거 빼면 두 단계 내려간다”가 와닿는다.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자랑하게 만든다</a:t>
            </a:r>
            <a:endParaRPr lang="en-US" sz="3200" dirty="0"/>
          </a:p>
        </p:txBody>
      </p:sp>
      <p:pic>
        <p:nvPicPr>
          <p:cNvPr id="3" name="Image 0" descr="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2395728" cy="29992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0" y="1371600"/>
            <a:ext cx="310896" cy="310896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474720" y="13898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913632" y="13533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이름이 붙는다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13632" y="167335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“벼락치기 팀플 지옥러” — 점수는 안 남고 이름은 남는다.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74720" y="2331720"/>
            <a:ext cx="310896" cy="310896"/>
          </a:xfrm>
          <a:prstGeom prst="ellipse">
            <a:avLst/>
          </a:prstGeom>
          <a:solidFill>
            <a:srgbClr val="FF9F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74720" y="23500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13632" y="2313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한 장으로 공유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913632" y="26334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인스타 스토리 · 에타 · 단톡방에 그대로.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74720" y="3291840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33101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913632" y="3273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공유가 데이터가 된다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35935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A73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→ 학기말 회고 입력 → 예보 정확도 상승.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주제가 안전한가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2560320" cy="1691640"/>
          </a:xfrm>
          <a:prstGeom prst="roundRect">
            <a:avLst>
              <a:gd name="adj" fmla="val 9730"/>
            </a:avLst>
          </a:prstGeom>
          <a:solidFill>
            <a:srgbClr val="1A21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ECD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권한 0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299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DB·행정 승인 없이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작동한다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91840" y="1325880"/>
            <a:ext cx="2560320" cy="1691640"/>
          </a:xfrm>
          <a:prstGeom prst="roundRect">
            <a:avLst>
              <a:gd name="adj" fmla="val 9730"/>
            </a:avLst>
          </a:prstGeom>
          <a:solidFill>
            <a:srgbClr val="1A21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9F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299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로그인도 회원가입도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325880"/>
            <a:ext cx="2560320" cy="1691640"/>
          </a:xfrm>
          <a:prstGeom prst="roundRect">
            <a:avLst>
              <a:gd name="adj" fmla="val 9730"/>
            </a:avLst>
          </a:prstGeom>
          <a:solidFill>
            <a:srgbClr val="1A21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5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교수 평가 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0299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성격만 다루고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평가하지 않는다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310128"/>
            <a:ext cx="8138160" cy="1170432"/>
          </a:xfrm>
          <a:prstGeom prst="roundRect">
            <a:avLst>
              <a:gd name="adj" fmla="val 14063"/>
            </a:avLst>
          </a:prstGeom>
          <a:solidFill>
            <a:srgbClr val="1E25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회의까지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785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 수강했던 과목 목록 작성 — 8명이면 80과목, 이게 1차 데이터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9BA3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방향 확정 · 마스코트 2차 가공 신청 여부 결정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학기예보</dc:title>
  <dc:subject>PptxGenJS Presentation</dc:subject>
  <dc:creator>Team</dc:creator>
  <cp:lastModifiedBy>Team</cp:lastModifiedBy>
  <cp:revision>1</cp:revision>
  <dcterms:created xsi:type="dcterms:W3CDTF">2026-09-15T13:55:35Z</dcterms:created>
  <dcterms:modified xsi:type="dcterms:W3CDTF">2026-09-15T13:55:35Z</dcterms:modified>
</cp:coreProperties>
</file>